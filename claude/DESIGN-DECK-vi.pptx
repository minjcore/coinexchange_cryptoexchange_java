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GtelPay Core — Thiết kế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kế toán + ví (fiat)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Một core xây cho tiền — đúng đắn tối thiểu cần thiết, không phải over-engineering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Luận điểm (một câu)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Thanh toán không phải CRUD. Tụi mình xây core </a:t>
            </a:r>
            <a:r>
              <a:rPr sz="2000" b="1"/>
              <a:t>nhỏ nhất</a:t>
            </a:r>
            <a:r>
              <a:rPr sz="2000"/>
              <a:t> mà vẫn </a:t>
            </a:r>
            <a:r>
              <a:rPr sz="2000" b="1"/>
              <a:t>đúng khi dính tới tiền</a:t>
            </a:r>
            <a:r>
              <a:rPr sz="2000"/>
              <a:t> — và nó đã chạy.</a:t>
            </a:r>
          </a:p>
          <a:p>
            <a:pPr lvl="0"/>
            <a:r>
              <a:rPr/>
              <a:t>Hai domain, idempotent ngay từ thiết kế, một sổ cái bất biến, điều phối bằng saga.</a:t>
            </a:r>
          </a:p>
          <a:p>
            <a:pPr lvl="0"/>
            <a:r>
              <a:rPr/>
              <a:t>Mọi thứ trong deck này đều ứng với một </a:t>
            </a:r>
            <a:r>
              <a:rPr b="1"/>
              <a:t>kiểu mất tiền cụ thể</a:t>
            </a:r>
            <a:r>
              <a:rPr/>
              <a:t> mà nó ngăn chặn.</a:t>
            </a:r>
          </a:p>
          <a:p>
            <a:pPr lvl="0"/>
            <a:r>
              <a:rPr/>
              <a:t>Không có gì xây “phòng hờ” — có hẳn danh sách những thứ tụi mình </a:t>
            </a:r>
            <a:r>
              <a:rPr b="1"/>
              <a:t>từ chối xây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Phần 1 — Vì sao chuyện này quan trọng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Thanh toán là tiền — bug là mất tiền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kiểu lỗi mà một bảng ví thông thường không xử lý an toàn được:</a:t>
            </a:r>
          </a:p>
          <a:p>
            <a:pPr lvl="0"/>
            <a:r>
              <a:rPr b="1"/>
              <a:t>Tiêu hai lần (double-spend)</a:t>
            </a:r>
            <a:r>
              <a:rPr/>
              <a:t> — retry / race / timeout làm cùng một khoản tiền ra hai lần.</a:t>
            </a:r>
          </a:p>
          <a:p>
            <a:pPr lvl="0"/>
            <a:r>
              <a:rPr b="1"/>
              <a:t>Sổ lệch hoặc sửa được</a:t>
            </a:r>
            <a:r>
              <a:rPr/>
              <a:t> — không tin được sổ cái → </a:t>
            </a:r>
            <a:r>
              <a:rPr b="1"/>
              <a:t>kiểm toán và cơ quan quản lý đánh rớt</a:t>
            </a:r>
            <a:r>
              <a:rPr/>
              <a:t>.</a:t>
            </a:r>
          </a:p>
          <a:p>
            <a:pPr lvl="0"/>
            <a:r>
              <a:rPr b="1"/>
              <a:t>Nhanh vs đúng</a:t>
            </a:r>
            <a:r>
              <a:rPr/>
              <a:t> — “member tiêu được bao nhiêu </a:t>
            </a:r>
            <a:r>
              <a:rPr i="1"/>
              <a:t>bây giờ</a:t>
            </a:r>
            <a:r>
              <a:rPr/>
              <a:t>?” cần đọc cỡ mili-giây; “đã xảy ra chuyện gì?” cần sổ cái bất biến, kiểm toán được.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Vì sao một bảng là không đủ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Một dòng </a:t>
            </a:r>
            <a:r>
              <a:rPr>
                <a:latin typeface="Courier"/>
              </a:rPr>
              <a:t>balance</a:t>
            </a:r>
            <a:r>
              <a:rPr/>
              <a:t> mutable thì </a:t>
            </a:r>
            <a:r>
              <a:rPr b="1"/>
              <a:t>nhanh nhưng không kiểm toán được</a:t>
            </a:r>
            <a:r>
              <a:rPr/>
              <a:t> — không lịch sử, sửa được, không bằng chứng.</a:t>
            </a:r>
          </a:p>
          <a:p>
            <a:pPr lvl="0"/>
            <a:r>
              <a:rPr/>
              <a:t>Sổ cái thuần (tính số dư từ lịch sử) thì </a:t>
            </a:r>
            <a:r>
              <a:rPr b="1"/>
              <a:t>đúng nhưng chậm</a:t>
            </a:r>
            <a:r>
              <a:rPr/>
              <a:t> — không kham nổi đường nóng (hot path) khi tiêu tiền.</a:t>
            </a:r>
          </a:p>
          <a:p>
            <a:pPr lvl="0"/>
            <a:r>
              <a:rPr/>
              <a:t>Ép cả hai vào một mô hình → </a:t>
            </a:r>
            <a:r>
              <a:rPr b="1"/>
              <a:t>một trong hai sẽ vỡ</a:t>
            </a:r>
            <a:r>
              <a:rPr/>
              <a:t>.</a:t>
            </a:r>
          </a:p>
          <a:p>
            <a:pPr lvl="0"/>
            <a:r>
              <a:rPr/>
              <a:t>→ Thiết kế đi ra từ mâu thuẫn này, không phải từ sở thích.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Phần 2 — Thiết kế (ba ý tưởng)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Ý tưởng 1 — Tách hai domain có chủ đích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core.wallet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core.accounting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Câu hỏi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“Member tiêu được bao nhiêu giờ?”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“Sổ cái đã ghi nhận gì?”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Hình thái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số dư 1 dòng, nhanh (hot path)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sổ cái ghi kép, bất biến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Sự thật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tiêu được ngay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nguồn sự thật (system of record)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Hai bên </a:t>
            </a:r>
            <a:r>
              <a:rPr b="1"/>
              <a:t>không chung storage, không gọi nhau</a:t>
            </a:r>
            <a:r>
              <a:rPr/>
              <a:t> — cô lập, scale độc lập.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Ý tưởng 2 — Đúng đắn ngay từ thiết kế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Idempotent (chống lặp)</a:t>
            </a:r>
            <a:r>
              <a:rPr/>
              <a:t> — mọi thay đổi đều có khóa; retry trả về cùng kết quả, không áp lại.</a:t>
            </a:r>
          </a:p>
          <a:p>
            <a:pPr lvl="0"/>
            <a:r>
              <a:rPr b="1"/>
              <a:t>Ghi cùng nhau</a:t>
            </a:r>
            <a:r>
              <a:rPr/>
              <a:t> — không số dư nào đổi mà thiếu dòng giao dịch, trong </a:t>
            </a:r>
            <a:r>
              <a:rPr b="1"/>
              <a:t>cùng một transaction</a:t>
            </a:r>
            <a:r>
              <a:rPr/>
              <a:t>.</a:t>
            </a:r>
          </a:p>
          <a:p>
            <a:pPr lvl="0"/>
            <a:r>
              <a:rPr b="1"/>
              <a:t>Cân + bất biến</a:t>
            </a:r>
            <a:r>
              <a:rPr/>
              <a:t> — mỗi journal có nợ = có; không sửa, sai thì ghi bút toán đảo.</a:t>
            </a:r>
          </a:p>
          <a:p>
            <a:pPr lvl="0"/>
            <a:r>
              <a:rPr b="1"/>
              <a:t>Trung chuyển về 0</a:t>
            </a:r>
            <a:r>
              <a:rPr/>
              <a:t> — tiền đang luân chuyển được track về 0 ở mỗi luồng hoàn tất.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Ý tưởng 3 — Điều phối, không phải distributed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Một </a:t>
            </a:r>
            <a:r>
              <a:rPr b="1"/>
              <a:t>sequencer mỏng</a:t>
            </a:r>
            <a:r>
              <a:rPr/>
              <a:t> điều phối hai domain theo từng use case.</a:t>
            </a:r>
          </a:p>
          <a:p>
            <a:pPr lvl="0"/>
            <a:r>
              <a:rPr b="1"/>
              <a:t>Saga + bù trừ (compensation)</a:t>
            </a:r>
            <a:r>
              <a:rPr/>
              <a:t> — lỗi giữa chừng thì bù, không dùng 2-phase commit mong manh.</a:t>
            </a:r>
          </a:p>
          <a:p>
            <a:pPr lvl="0"/>
            <a:r>
              <a:rPr/>
              <a:t>Sổ cái được nạp bất đồng bộ (outbox → queue) — back-office không chặn đường nóng khi tiêu tiền.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Bức tranh tổng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client
          │
   orchestration (saga)
       ┌──┴──┐
   wallet   accounting
  (tiêu được) (sổ cái bất biến)
   hot path    nguồn sự thật</a:t>
            </a:r>
          </a:p>
          <a:p>
            <a:pPr lvl="0" indent="0" marL="0">
              <a:buNone/>
            </a:pPr>
            <a:r>
              <a:rPr/>
              <a:t>Một sequencer, hai sự thật, không chung state.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Phần 3 — “Vậy có phải over-engineering không?”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Phép thử trung thực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Over-engineering = phức tạp mà </a:t>
            </a:r>
            <a:r>
              <a:rPr b="1"/>
              <a:t>không đem lại gì</a:t>
            </a:r>
            <a:r>
              <a:rPr/>
              <a:t>. Ở đây, từng mảnh đều tự trả giá cho mình: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Lá chắn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Lỗi nó ngăn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Idempotency (dưới lock)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Tiêu / ghi có hai lần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Ghi kép + bất biến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Rớt kiểm toán / cơ quan quản lý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Tách wallet ⊥ accounting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Tiêu chậm </a:t>
                      </a:r>
                      <a:r>
                        <a:rPr b="1"/>
                        <a:t>hoặc</a:t>
                      </a:r>
                      <a:r>
                        <a:rPr/>
                        <a:t> sổ không tin được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Trung chuyển về 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Tiền kẹt giữa luồng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Saga + bù trừ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Tiền mắc kẹt khi sự cố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Vậy câu hỏi thật là…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Anh muốn bỏ lá chắn nào — và chấp nhận mất mát kiểu gì?</a:t>
            </a:r>
          </a:p>
          <a:p>
            <a:pPr lvl="0"/>
            <a:r>
              <a:rPr/>
              <a:t>Bỏ idempotency → chấp nhận double-spend mỗi đợt retry dồn.</a:t>
            </a:r>
          </a:p>
          <a:p>
            <a:pPr lvl="0"/>
            <a:r>
              <a:rPr/>
              <a:t>Bỏ sổ cái bất biến → chấp nhận rớt kiểm toán.</a:t>
            </a:r>
          </a:p>
          <a:p>
            <a:pPr lvl="0"/>
            <a:r>
              <a:rPr/>
              <a:t>Mỗi lần “đơn giản hóa” đều có tên gọi và cái giá của nó.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Những thứ tụi mình CỐ Ý không xây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Over-engineering thật sự là mạ vàng. Tụi mình từ chối — ghi rõ trong ADR:</a:t>
            </a:r>
          </a:p>
          <a:p>
            <a:pPr lvl="0"/>
            <a:r>
              <a:rPr b="1"/>
              <a:t>4 module, không phải 40</a:t>
            </a:r>
            <a:r>
              <a:rPr/>
              <a:t> — một shared lib tối thiểu (ADR-002)</a:t>
            </a:r>
          </a:p>
          <a:p>
            <a:pPr lvl="0"/>
            <a:r>
              <a:rPr b="1"/>
              <a:t>Không 2PC, không Temporal</a:t>
            </a:r>
            <a:r>
              <a:rPr/>
              <a:t> — RabbitMQ worker thường (ADR-035)</a:t>
            </a:r>
          </a:p>
          <a:p>
            <a:pPr lvl="0"/>
            <a:r>
              <a:rPr b="1"/>
              <a:t>Không tự chế DB sổ cái</a:t>
            </a:r>
            <a:r>
              <a:rPr/>
              <a:t> — PostgreSQL thường, hai schema (ADR-003)</a:t>
            </a:r>
          </a:p>
          <a:p>
            <a:pPr lvl="0"/>
            <a:r>
              <a:rPr b="1"/>
              <a:t>Không event-sourcing / CQRS</a:t>
            </a:r>
            <a:r>
              <a:rPr/>
              <a:t> — số dư snapshot + log chỉ-thêm (ADR-004)</a:t>
            </a:r>
          </a:p>
          <a:p>
            <a:pPr lvl="0"/>
            <a:r>
              <a:rPr b="1"/>
              <a:t>Một tiền tệ (VND) v1</a:t>
            </a:r>
            <a:r>
              <a:rPr/>
              <a:t> — không xây gì “phòng hờ” (ADR-019)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Đây là chuẩn ngành, không phải đồ lạ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Ghi kép, idempotency, sổ cái bất biến là thứ </a:t>
            </a:r>
            <a:r>
              <a:rPr b="1"/>
              <a:t>ngân hàng, Stripe, Modern Treasury</a:t>
            </a:r>
            <a:r>
              <a:rPr/>
              <a:t> đều xài.</a:t>
            </a:r>
          </a:p>
          <a:p>
            <a:pPr lvl="0"/>
            <a:r>
              <a:rPr/>
              <a:t>Gọi mấy cái này là “over-engineering” tức là gọi cả ngành thanh toán over-engineering.</a:t>
            </a:r>
          </a:p>
          <a:p>
            <a:pPr lvl="0"/>
            <a:r>
              <a:rPr/>
              <a:t>Tụi mình không phát minh primitive — chỉ áp chuẩn có sẵn, một cách tối thiểu.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Phần 4 — Bằng chứng (nó chạy)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Không phải giấy — code chạy thật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core.foundation</a:t>
            </a:r>
            <a:r>
              <a:rPr/>
              <a:t> · </a:t>
            </a:r>
            <a:r>
              <a:rPr>
                <a:latin typeface="Courier"/>
              </a:rPr>
              <a:t>core.wallet</a:t>
            </a:r>
            <a:r>
              <a:rPr/>
              <a:t> · </a:t>
            </a:r>
            <a:r>
              <a:rPr>
                <a:latin typeface="Courier"/>
              </a:rPr>
              <a:t>core.accounting</a:t>
            </a:r>
            <a:r>
              <a:rPr/>
              <a:t> · </a:t>
            </a:r>
            <a:r>
              <a:rPr>
                <a:latin typeface="Courier"/>
              </a:rPr>
              <a:t>app-orchestration</a:t>
            </a:r>
            <a:r>
              <a:rPr/>
              <a:t> → </a:t>
            </a:r>
            <a:r>
              <a:rPr b="1"/>
              <a:t>đã build, test pass</a:t>
            </a:r>
            <a:r>
              <a:rPr/>
              <a:t> (Java / Spring Boot 3).</a:t>
            </a:r>
          </a:p>
          <a:p>
            <a:pPr lvl="0"/>
            <a:r>
              <a:rPr/>
              <a:t>Luật trọng yếu về tiền được </a:t>
            </a:r>
            <a:r>
              <a:rPr b="1"/>
              <a:t>code và test</a:t>
            </a:r>
            <a:r>
              <a:rPr/>
              <a:t>, không chỉ mô tả:</a:t>
            </a:r>
          </a:p>
          <a:p>
            <a:pPr lvl="1"/>
            <a:r>
              <a:rPr/>
              <a:t>idempotency check lại </a:t>
            </a:r>
            <a:r>
              <a:rPr b="1"/>
              <a:t>dưới lock</a:t>
            </a:r>
            <a:r>
              <a:rPr/>
              <a:t> → không áp hai lần</a:t>
            </a:r>
          </a:p>
          <a:p>
            <a:pPr lvl="1"/>
            <a:r>
              <a:rPr/>
              <a:t>journal cân + bất biến · nạp tiền hai pha (chỉ credit sau khi sổ cái post)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Quyết định được khóa và thực thi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41 ADR</a:t>
            </a:r>
            <a:r>
              <a:rPr/>
              <a:t> — mỗi cái có tiêu chí nghiệm thu (AC) + test case (TC).</a:t>
            </a:r>
          </a:p>
          <a:p>
            <a:pPr lvl="0"/>
            <a:r>
              <a:rPr b="1"/>
              <a:t>150+ kịch bản nghiệm thu</a:t>
            </a:r>
            <a:r>
              <a:rPr/>
              <a:t> (Given/When/Then) làm cổng conformance.</a:t>
            </a:r>
          </a:p>
          <a:p>
            <a:pPr lvl="0"/>
            <a:r>
              <a:rPr b="1"/>
              <a:t>Bộ invariant SQL gác build</a:t>
            </a:r>
            <a:r>
              <a:rPr/>
              <a:t> — mọi journal phải cân, trung chuyển về 0 — lệch là </a:t>
            </a:r>
            <a:r>
              <a:rPr b="1"/>
              <a:t>rớt CI</a:t>
            </a:r>
            <a:r>
              <a:rPr/>
              <a:t>, không lọt production.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Phần 5 — Quyết định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Tự xây hay mua sẵn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Blnk / Formance / TigerBeetle </a:t>
            </a:r>
            <a:r>
              <a:rPr b="1"/>
              <a:t>gộp số dư + sổ cái</a:t>
            </a:r>
            <a:r>
              <a:rPr/>
              <a:t> — tốt cho ledger nhúng.</a:t>
            </a:r>
          </a:p>
          <a:p>
            <a:pPr lvl="0"/>
            <a:r>
              <a:rPr/>
              <a:t>Nhu cầu của mình: </a:t>
            </a:r>
            <a:r>
              <a:rPr b="1"/>
              <a:t>chart of accounts thật · trung chuyển về 0 · settlement cuối ngày · audit chuẩn cơ quan quản lý · số dư tiêu được RPS cao.</a:t>
            </a:r>
          </a:p>
          <a:p>
            <a:pPr lvl="0"/>
            <a:r>
              <a:rPr b="1"/>
              <a:t>Quyết định:</a:t>
            </a:r>
            <a:r>
              <a:rPr/>
              <a:t> mượn pattern đã được chứng minh; chỉ tự xây phần phải khớp thực tế ngân hàng/kiểm toán.</a:t>
            </a:r>
          </a:p>
          <a:p>
            <a:pPr lvl="0"/>
            <a:r>
              <a:rPr/>
              <a:t>Phần build </a:t>
            </a:r>
            <a:r>
              <a:rPr b="1"/>
              <a:t>nhỏ, tập trung, và đã chạy.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Rủi ro được kiểm soát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Tương thích ngược</a:t>
            </a:r>
            <a:r>
              <a:rPr/>
              <a:t> — tính năng mới là opt-in; client cũ không đổi gì.</a:t>
            </a:r>
          </a:p>
          <a:p>
            <a:pPr lvl="0"/>
            <a:r>
              <a:rPr b="1"/>
              <a:t>Đối soát chỉ báo cáo</a:t>
            </a:r>
            <a:r>
              <a:rPr/>
              <a:t> — phát hiện lệch, không tự sửa sổ.</a:t>
            </a:r>
          </a:p>
          <a:p>
            <a:pPr lvl="0"/>
            <a:r>
              <a:rPr b="1"/>
              <a:t>Hợp đồng API (OpenAPI / AsyncAPI) là nguồn sự thật</a:t>
            </a:r>
            <a:r>
              <a:rPr/>
              <a:t> — wire không lệch khỏi thiết kế.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Phạm 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accounting</a:t>
            </a:r>
            <a:r>
              <a:rPr/>
              <a:t> (sổ cái) + </a:t>
            </a:r>
            <a:r>
              <a:rPr>
                <a:latin typeface="Courier"/>
              </a:rPr>
              <a:t>wallet</a:t>
            </a:r>
            <a:r>
              <a:rPr/>
              <a:t> (số dư) + </a:t>
            </a:r>
            <a:r>
              <a:rPr>
                <a:latin typeface="Courier"/>
              </a:rPr>
              <a:t>foundation</a:t>
            </a:r>
            <a:r>
              <a:rPr/>
              <a:t> + </a:t>
            </a:r>
            <a:r>
              <a:rPr>
                <a:latin typeface="Courier"/>
              </a:rPr>
              <a:t>orchestration</a:t>
            </a:r>
            <a:r>
              <a:rPr/>
              <a:t>.</a:t>
            </a:r>
          </a:p>
          <a:p>
            <a:pPr lvl="0"/>
            <a:r>
              <a:rPr b="1"/>
              <a:t>Fiat (VND).</a:t>
            </a:r>
          </a:p>
          <a:p>
            <a:pPr lvl="0"/>
            <a:r>
              <a:rPr/>
              <a:t>Tài liệu nền khi cần: 41 ADR · luồng nghiệp vụ · contracts · 150+ kịch bản nghiệm thu.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Đề nghị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Đây là </a:t>
            </a:r>
            <a:r>
              <a:rPr b="1"/>
              <a:t>thiết kế đơn giản nhất mà không mất tiền.</a:t>
            </a:r>
          </a:p>
          <a:p>
            <a:pPr lvl="0"/>
            <a:r>
              <a:rPr i="1"/>
              <a:t>“Đơn giản là tốt — và đây </a:t>
            </a:r>
            <a:r>
              <a:rPr b="1" i="1"/>
              <a:t>chính là</a:t>
            </a:r>
            <a:r>
              <a:rPr i="1"/>
              <a:t> bản đơn giản nhất mà vẫn đúng.”</a:t>
            </a:r>
          </a:p>
          <a:p>
            <a:pPr lvl="0"/>
            <a:r>
              <a:rPr/>
              <a:t>Muốn đơn giản hơn? </a:t>
            </a:r>
            <a:r>
              <a:rPr b="1"/>
              <a:t>Nói rõ lá chắn nào cắt, và gánh cái mất mát đó.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Cảm 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GtelPay Core</a:t>
            </a:r>
            <a:r>
              <a:rPr/>
              <a:t> — core kế toán + ví (fiat). Xây cho tiền. Đã chạy. Tài liệu nền có sẵn khi cần.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GtelPay Core — Thiết kế</dc:title>
  <dc:creator>Core kế toán + ví (fiat)</dc:creator>
  <cp:keywords/>
  <dcterms:created xsi:type="dcterms:W3CDTF">2026-06-17T11:29:39Z</dcterms:created>
  <dcterms:modified xsi:type="dcterms:W3CDTF">2026-06-17T11:29:39Z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Một core xây cho tiền — đúng đắn tối thiểu cần thiết, không phải over-engineering</vt:lpwstr>
  </property>
</Properties>
</file>